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10728655" cy="640080"/>
          </a:xfrm>
          <a:prstGeom prst="roundRect">
            <a:avLst/>
          </a:prstGeom>
          <a:solidFill>
            <a:srgbClr val="1E293B"/>
          </a:solidFill>
          <a:ln w="19050">
            <a:solidFill>
              <a:srgbClr val="C07D2B"/>
            </a:solidFill>
          </a:ln>
        </p:spPr>
        <p:style>
          <a:lnRef idx="1">
            <a:schemeClr val="accent1"/>
          </a:lnRef>
          <a:fillRef idx="3">
            <a:schemeClr val="accent1"/>
          </a:fillRef>
          <a:effectRef idx="2">
            <a:schemeClr val="accent1"/>
          </a:effectRef>
          <a:fontRef idx="minor">
            <a:schemeClr val="lt1"/>
          </a:fontRef>
        </p:style>
        <p:txBody>
          <a:bodyPr rtlCol="0" anchor="ctr" wrap="square" tIns="91440"/>
          <a:lstStyle/>
          <a:p>
            <a:pPr algn="ctr">
              <a:defRPr sz="1350" b="1">
                <a:solidFill>
                  <a:srgbClr val="FFFFFF"/>
                </a:solidFill>
                <a:latin typeface="Segoe UI"/>
              </a:defRPr>
            </a:pPr>
            <a:r>
              <a:t>SMART INDIA HACKATHON 2026 — OFFICIAL IDEA SUBMISSION</a:t>
            </a:r>
          </a:p>
        </p:txBody>
      </p:sp>
      <p:sp>
        <p:nvSpPr>
          <p:cNvPr id="4" name="Rounded Rectangle 3"/>
          <p:cNvSpPr/>
          <p:nvPr/>
        </p:nvSpPr>
        <p:spPr>
          <a:xfrm>
            <a:off x="731520" y="1234440"/>
            <a:ext cx="5486400" cy="5120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20040" tIns="228600" rIns="320040"/>
          <a:lstStyle/>
          <a:p>
            <a:pPr algn="ctr">
              <a:defRPr sz="1150" b="1">
                <a:solidFill>
                  <a:srgbClr val="C07D2B"/>
                </a:solidFill>
                <a:latin typeface="Segoe UI"/>
              </a:defRPr>
            </a:pPr>
            <a:r>
              <a:t>PROBLEM STATEMENT DETAILS</a:t>
            </a:r>
          </a:p>
          <a:p>
            <a:pPr>
              <a:spcBef>
                <a:spcPts val="600"/>
              </a:spcBef>
              <a:defRPr sz="1000" b="1">
                <a:solidFill>
                  <a:srgbClr val="94A3B8"/>
                </a:solidFill>
                <a:latin typeface="Segoe UI"/>
              </a:defRPr>
            </a:pPr>
            <a:r>
              <a:t>Problem Statement ID:</a:t>
            </a:r>
          </a:p>
          <a:p>
            <a:pPr>
              <a:defRPr sz="1050" b="1">
                <a:solidFill>
                  <a:srgbClr val="FFFFFF"/>
                </a:solidFill>
                <a:latin typeface="Segoe UI"/>
              </a:defRPr>
            </a:pPr>
            <a:r>
              <a:t>26025</a:t>
            </a:r>
          </a:p>
          <a:p>
            <a:pPr>
              <a:spcBef>
                <a:spcPts val="600"/>
              </a:spcBef>
              <a:defRPr sz="1000" b="1">
                <a:solidFill>
                  <a:srgbClr val="94A3B8"/>
                </a:solidFill>
                <a:latin typeface="Segoe UI"/>
              </a:defRPr>
            </a:pPr>
            <a:r>
              <a:t>Problem Statement Title:</a:t>
            </a:r>
          </a:p>
          <a:p>
            <a:pPr>
              <a:defRPr sz="1050" b="0">
                <a:solidFill>
                  <a:srgbClr val="FFFFFF"/>
                </a:solidFill>
                <a:latin typeface="Segoe UI"/>
              </a:defRPr>
            </a:pPr>
            <a:r>
              <a:t>Development of an AI-enabled Low Cost Real Time Mine Subsidence Monitoring, Prediction and Early Warning System for Underground Coal Mines in India.</a:t>
            </a:r>
          </a:p>
          <a:p>
            <a:pPr>
              <a:spcBef>
                <a:spcPts val="600"/>
              </a:spcBef>
              <a:defRPr sz="1000" b="1">
                <a:solidFill>
                  <a:srgbClr val="94A3B8"/>
                </a:solidFill>
                <a:latin typeface="Segoe UI"/>
              </a:defRPr>
            </a:pPr>
            <a:r>
              <a:t>Theme / Sector:</a:t>
            </a:r>
          </a:p>
          <a:p>
            <a:pPr>
              <a:defRPr sz="1050" b="0">
                <a:solidFill>
                  <a:srgbClr val="FFFFFF"/>
                </a:solidFill>
                <a:latin typeface="Segoe UI"/>
              </a:defRPr>
            </a:pPr>
            <a:r>
              <a:t>Mining, Safety &amp; Geotechnical Monitoring / Disaster Management</a:t>
            </a:r>
          </a:p>
          <a:p>
            <a:pPr>
              <a:spcBef>
                <a:spcPts val="600"/>
              </a:spcBef>
              <a:defRPr sz="1000" b="1">
                <a:solidFill>
                  <a:srgbClr val="94A3B8"/>
                </a:solidFill>
                <a:latin typeface="Segoe UI"/>
              </a:defRPr>
            </a:pPr>
            <a:r>
              <a:t>PS Category:</a:t>
            </a:r>
          </a:p>
          <a:p>
            <a:pPr>
              <a:defRPr sz="1050" b="0">
                <a:solidFill>
                  <a:srgbClr val="FFFFFF"/>
                </a:solidFill>
                <a:latin typeface="Segoe UI"/>
              </a:defRPr>
            </a:pPr>
            <a:r>
              <a:t>Software / IoT Hybrid Prototype</a:t>
            </a:r>
          </a:p>
          <a:p>
            <a:pPr>
              <a:spcBef>
                <a:spcPts val="600"/>
              </a:spcBef>
              <a:defRPr sz="1000" b="1">
                <a:solidFill>
                  <a:srgbClr val="94A3B8"/>
                </a:solidFill>
                <a:latin typeface="Segoe UI"/>
              </a:defRPr>
            </a:pPr>
            <a:r>
              <a:t>Team ID:</a:t>
            </a:r>
          </a:p>
          <a:p>
            <a:pPr>
              <a:defRPr sz="1050" b="0">
                <a:solidFill>
                  <a:srgbClr val="FFFFFF"/>
                </a:solidFill>
                <a:latin typeface="Segoe UI"/>
              </a:defRPr>
            </a:pPr>
            <a:r>
              <a:t>[Team ID Placeholder]</a:t>
            </a:r>
          </a:p>
          <a:p>
            <a:pPr>
              <a:spcBef>
                <a:spcPts val="600"/>
              </a:spcBef>
              <a:defRPr sz="1000" b="1">
                <a:solidFill>
                  <a:srgbClr val="94A3B8"/>
                </a:solidFill>
                <a:latin typeface="Segoe UI"/>
              </a:defRPr>
            </a:pPr>
            <a:r>
              <a:t>Team Name:</a:t>
            </a:r>
          </a:p>
          <a:p>
            <a:pPr>
              <a:defRPr sz="1050" b="1">
                <a:solidFill>
                  <a:srgbClr val="FFFFFF"/>
                </a:solidFill>
                <a:latin typeface="Segoe UI"/>
              </a:defRPr>
            </a:pPr>
            <a:r>
              <a:t>[Team Name Placeholder]</a:t>
            </a:r>
          </a:p>
        </p:txBody>
      </p:sp>
      <p:sp>
        <p:nvSpPr>
          <p:cNvPr id="5" name="Rounded Rectangle 4"/>
          <p:cNvSpPr/>
          <p:nvPr/>
        </p:nvSpPr>
        <p:spPr>
          <a:xfrm>
            <a:off x="6400800" y="1234440"/>
            <a:ext cx="5059375" cy="51206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20040" tIns="228600" rIns="320040"/>
          <a:lstStyle/>
          <a:p>
            <a:pPr algn="ctr">
              <a:defRPr sz="1150" b="1">
                <a:solidFill>
                  <a:srgbClr val="DCFCE7"/>
                </a:solidFill>
                <a:latin typeface="Segoe UI"/>
              </a:defRPr>
            </a:pPr>
            <a:r>
              <a:t>PROPOSED INNOVATION</a:t>
            </a:r>
          </a:p>
          <a:p>
            <a:pPr>
              <a:spcBef>
                <a:spcPts val="800"/>
              </a:spcBef>
              <a:defRPr sz="3000" b="1">
                <a:solidFill>
                  <a:srgbClr val="FFFFFF"/>
                </a:solidFill>
                <a:latin typeface="Segoe UI"/>
              </a:defRPr>
            </a:pPr>
            <a:r>
              <a:t>MineGuard</a:t>
            </a:r>
          </a:p>
          <a:p>
            <a:pPr>
              <a:defRPr sz="1150" b="1">
                <a:solidFill>
                  <a:srgbClr val="C07D2B"/>
                </a:solidFill>
                <a:latin typeface="Segoe UI"/>
              </a:defRPr>
            </a:pPr>
            <a:r>
              <a:t>AI-Enabled Low-Cost Real-Time Mine Subsidence Monitoring &amp; Early Warning Prototype</a:t>
            </a:r>
          </a:p>
          <a:p>
            <a:pPr>
              <a:spcBef>
                <a:spcPts val="1000"/>
              </a:spcBef>
              <a:defRPr sz="1000">
                <a:solidFill>
                  <a:srgbClr val="E2E8F0"/>
                </a:solidFill>
                <a:latin typeface="Segoe UI"/>
              </a:defRPr>
            </a:pPr>
            <a:r>
              <a:t>A distributed SURFACE wireless sensor network prototype deployed above underground coal mine panels, utilizing ESP-NOW multi-hop telemetry, causal 16-feature extraction, and a baseline-calibrated Isolation Forest anomaly detection prototype for continuous strata safety monitoring.</a:t>
            </a:r>
          </a:p>
          <a:p>
            <a:pPr>
              <a:spcBef>
                <a:spcPts val="500"/>
              </a:spcBef>
              <a:defRPr sz="919" b="1">
                <a:solidFill>
                  <a:srgbClr val="DCFCE7"/>
                </a:solidFill>
                <a:latin typeface="Segoe UI"/>
              </a:defRPr>
            </a:pPr>
            <a:r>
              <a:t>● Surface Non-Invasive Deployment (Avoids Hazardous Underground IS/Flameproof Constraints)</a:t>
            </a:r>
          </a:p>
          <a:p>
            <a:pPr>
              <a:spcBef>
                <a:spcPts val="500"/>
              </a:spcBef>
              <a:defRPr sz="919" b="1">
                <a:solidFill>
                  <a:srgbClr val="DCFCE7"/>
                </a:solidFill>
                <a:latin typeface="Segoe UI"/>
              </a:defRPr>
            </a:pPr>
            <a:r>
              <a:t>● 3-Node ESP-NOW Multi-Hop Prototype Architecture</a:t>
            </a:r>
          </a:p>
          <a:p>
            <a:pPr>
              <a:spcBef>
                <a:spcPts val="500"/>
              </a:spcBef>
              <a:defRPr sz="919" b="1">
                <a:solidFill>
                  <a:srgbClr val="DCFCE7"/>
                </a:solidFill>
                <a:latin typeface="Segoe UI"/>
              </a:defRPr>
            </a:pPr>
            <a:r>
              <a:t>● 16 Causal Physics-Aware AI Features (Zero Future Data Leakage)</a:t>
            </a:r>
          </a:p>
          <a:p>
            <a:pPr>
              <a:spcBef>
                <a:spcPts val="500"/>
              </a:spcBef>
              <a:defRPr sz="919" b="1">
                <a:solidFill>
                  <a:srgbClr val="DCFCE7"/>
                </a:solidFill>
                <a:latin typeface="Segoe UI"/>
              </a:defRPr>
            </a:pPr>
            <a:r>
              <a:t>● Isolation Forest-Based Anomaly Detection Prototype</a:t>
            </a:r>
          </a:p>
          <a:p>
            <a:pPr>
              <a:spcBef>
                <a:spcPts val="500"/>
              </a:spcBef>
              <a:defRPr sz="919" b="1">
                <a:solidFill>
                  <a:srgbClr val="DCFCE7"/>
                </a:solidFill>
                <a:latin typeface="Segoe UI"/>
              </a:defRPr>
            </a:pPr>
            <a:r>
              <a:t>● Industrial SCADA-Style React Telemetry Dashboard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rIns="457200"/>
          <a:lstStyle/>
          <a:p>
            <a:pPr algn="ctr">
              <a:defRPr sz="1900" b="1">
                <a:solidFill>
                  <a:srgbClr val="FFFFFF"/>
                </a:solidFill>
                <a:latin typeface="Segoe UI"/>
              </a:defRPr>
            </a:pPr>
            <a:r>
              <a:t>PROPOSED IDEA: SURFACE WIRELESS MESH SENSOR NETWORK</a:t>
            </a:r>
          </a:p>
          <a:p>
            <a:pPr>
              <a:defRPr sz="1050">
                <a:solidFill>
                  <a:srgbClr val="CBD5E1"/>
                </a:solidFill>
                <a:latin typeface="Segoe UI"/>
              </a:defRPr>
            </a:pPr>
            <a:r>
              <a:t>Continuous real-time surface deformation tracking above underground coal extraction panels</a:t>
            </a:r>
          </a:p>
        </p:txBody>
      </p:sp>
      <p:sp>
        <p:nvSpPr>
          <p:cNvPr id="3" name="TextBox 2"/>
          <p:cNvSpPr txBox="1"/>
          <p:nvPr/>
        </p:nvSpPr>
        <p:spPr>
          <a:xfrm>
            <a:off x="9601200" y="91440"/>
            <a:ext cx="2130552" cy="731520"/>
          </a:xfrm>
          <a:prstGeom prst="rect">
            <a:avLst/>
          </a:prstGeom>
          <a:noFill/>
        </p:spPr>
        <p:txBody>
          <a:bodyPr wrap="square">
            <a:spAutoFit/>
          </a:bodyPr>
          <a:lstStyle/>
          <a:p>
            <a:pPr algn="r">
              <a:defRPr sz="1050" b="1">
                <a:solidFill>
                  <a:srgbClr val="C07D2B"/>
                </a:solidFill>
                <a:latin typeface="Segoe UI"/>
              </a:defRPr>
            </a:pPr>
            <a:r>
              <a:t>SIH 2026 | PS 26025</a:t>
            </a:r>
          </a:p>
          <a:p>
            <a:pPr algn="r">
              <a:defRPr sz="950">
                <a:solidFill>
                  <a:srgbClr val="94A3B8"/>
                </a:solidFill>
                <a:latin typeface="Segoe UI"/>
              </a:defRPr>
            </a:pPr>
            <a:r>
              <a:t>Slide 2 / 6</a:t>
            </a:r>
          </a:p>
        </p:txBody>
      </p:sp>
      <p:sp>
        <p:nvSpPr>
          <p:cNvPr id="4" name="Rounded Rectangle 3"/>
          <p:cNvSpPr/>
          <p:nvPr/>
        </p:nvSpPr>
        <p:spPr>
          <a:xfrm>
            <a:off x="548640" y="1097280"/>
            <a:ext cx="4846320" cy="15544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ctr">
              <a:defRPr sz="1050" b="1">
                <a:solidFill>
                  <a:srgbClr val="DC2626"/>
                </a:solidFill>
                <a:latin typeface="Segoe UI"/>
              </a:defRPr>
            </a:pPr>
            <a:r>
              <a:t>WHAT IS THE PROBLEM?</a:t>
            </a:r>
          </a:p>
          <a:p>
            <a:pPr>
              <a:defRPr sz="880">
                <a:solidFill>
                  <a:srgbClr val="0F172A"/>
                </a:solidFill>
                <a:latin typeface="Segoe UI"/>
              </a:defRPr>
            </a:pPr>
            <a:r>
              <a:t>Underground coal extraction (longwall &amp; depillaring) induces roof collapse into the caved goaf, causing progressive bending and shear strain through overlying rock strata. This leads to vertical surface subsidence troughs and ground fissuring, creating potential safety hazards for surface infrastructure, railway lines, pipelines, and local communities.</a:t>
            </a:r>
          </a:p>
        </p:txBody>
      </p:sp>
      <p:sp>
        <p:nvSpPr>
          <p:cNvPr id="5" name="Rounded Rectangle 4"/>
          <p:cNvSpPr/>
          <p:nvPr/>
        </p:nvSpPr>
        <p:spPr>
          <a:xfrm>
            <a:off x="548640" y="2743200"/>
            <a:ext cx="4846320" cy="16002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ctr">
              <a:defRPr sz="1050" b="1">
                <a:solidFill>
                  <a:srgbClr val="C07D2B"/>
                </a:solidFill>
                <a:latin typeface="Segoe UI"/>
              </a:defRPr>
            </a:pPr>
            <a:r>
              <a:t>WHY IS IT CRITICAL &amp; CURRENT MONITORING GAPS?</a:t>
            </a:r>
          </a:p>
          <a:p>
            <a:pPr>
              <a:defRPr sz="880">
                <a:solidFill>
                  <a:srgbClr val="0F172A"/>
                </a:solidFill>
                <a:latin typeface="Segoe UI"/>
              </a:defRPr>
            </a:pPr>
            <a:r>
              <a:t>• Manual Levelling Surveys: Labor-intensive, periodic (weeks or months apart), and expose survey personnel to hazardous ground.</a:t>
            </a:r>
            <a:br/>
            <a:r>
              <a:t>• Satellite InSAR: Susceptible to atmospheric noise/vegetation decorrelation and constrained by 12–24 day orbital revisit latency.</a:t>
            </a:r>
            <a:br/>
            <a:r>
              <a:t>• Operational Gap: Lack of continuous, real-time telemetry to capture rapid dynamic acceleration or early shear inflexion.</a:t>
            </a:r>
          </a:p>
        </p:txBody>
      </p:sp>
      <p:sp>
        <p:nvSpPr>
          <p:cNvPr id="6" name="Rounded Rectangle 5"/>
          <p:cNvSpPr/>
          <p:nvPr/>
        </p:nvSpPr>
        <p:spPr>
          <a:xfrm>
            <a:off x="548640" y="4434840"/>
            <a:ext cx="4846320" cy="210312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ctr">
              <a:defRPr sz="1050" b="1">
                <a:solidFill>
                  <a:srgbClr val="2D5A43"/>
                </a:solidFill>
                <a:latin typeface="Segoe UI"/>
              </a:defRPr>
            </a:pPr>
            <a:r>
              <a:t>WHAT ARE WE PROPOSING &amp; WHAT IS NOVEL?</a:t>
            </a:r>
          </a:p>
          <a:p>
            <a:pPr>
              <a:defRPr sz="880">
                <a:solidFill>
                  <a:srgbClr val="0F172A"/>
                </a:solidFill>
                <a:latin typeface="Segoe UI"/>
              </a:defRPr>
            </a:pPr>
            <a:r>
              <a:t>• Surface Monitoring Grid: Low-cost wireless sensor nodes (ESP32 + MPU6050) anchored across surface extraction panels.</a:t>
            </a:r>
            <a:br/>
            <a:r>
              <a:t>• Peer-to-Peer Multi-Hop Relay: Relays sensor packets across surface nodes to a gateway without requiring cellular modules on every node.</a:t>
            </a:r>
            <a:br/>
            <a:r>
              <a:t>• Surface Non-Invasive Advantage: Deployed entirely on the surface, bypassing strict underground flameproof/intrinsically safe equipment restrictions.</a:t>
            </a:r>
          </a:p>
        </p:txBody>
      </p:sp>
      <p:pic>
        <p:nvPicPr>
          <p:cNvPr id="7" name="Picture 6" descr="surface_mesh_schematic.png"/>
          <p:cNvPicPr>
            <a:picLocks noChangeAspect="1"/>
          </p:cNvPicPr>
          <p:nvPr/>
        </p:nvPicPr>
        <p:blipFill>
          <a:blip r:embed="rId2"/>
          <a:stretch>
            <a:fillRect/>
          </a:stretch>
        </p:blipFill>
        <p:spPr>
          <a:xfrm>
            <a:off x="5577840" y="1097280"/>
            <a:ext cx="6065215" cy="3163921"/>
          </a:xfrm>
          <a:prstGeom prst="rect">
            <a:avLst/>
          </a:prstGeom>
        </p:spPr>
      </p:pic>
      <p:sp>
        <p:nvSpPr>
          <p:cNvPr id="8" name="Rounded Rectangle 7"/>
          <p:cNvSpPr/>
          <p:nvPr/>
        </p:nvSpPr>
        <p:spPr>
          <a:xfrm>
            <a:off x="5577840" y="5029200"/>
            <a:ext cx="6065215" cy="1508760"/>
          </a:xfrm>
          <a:prstGeom prst="roundRect">
            <a:avLst/>
          </a:prstGeom>
          <a:solidFill>
            <a:srgbClr val="DCFCE7"/>
          </a:solidFill>
          <a:ln w="12700">
            <a:solidFill>
              <a:srgbClr val="2D5A43"/>
            </a:solidFill>
          </a:ln>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defRPr sz="1050" b="1">
                <a:solidFill>
                  <a:srgbClr val="2D5A43"/>
                </a:solidFill>
                <a:latin typeface="Segoe UI"/>
              </a:defRPr>
            </a:pPr>
            <a:r>
              <a:t>PROTOTYPE TOPOLOGY &amp; DATA ROUTING CONCEPT</a:t>
            </a:r>
          </a:p>
          <a:p>
            <a:pPr>
              <a:defRPr sz="860">
                <a:solidFill>
                  <a:srgbClr val="0F172A"/>
                </a:solidFill>
                <a:latin typeface="Segoe UI"/>
              </a:defRPr>
            </a:pPr>
            <a:r>
              <a:t>• Prototype Mesh: Node N1 (Zone A Reference) ──[Hop 1]──&gt; Node N2 (Zone B Relay) ──[Hop 2]──&gt; Node N3 (Gateway Bridge)</a:t>
            </a:r>
            <a:br/>
            <a:r>
              <a:t>• Root Gateway converts ESP-NOW payloads into HTTP REST (/api/telemetry) &amp; WebSocket streams to the MineGuard server.</a:t>
            </a:r>
            <a:br/>
            <a:r>
              <a:t>• Designed to detect subtle inclination anomalies during early strata deformation prior to major surface settlement.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rIns="457200"/>
          <a:lstStyle/>
          <a:p>
            <a:pPr algn="ctr">
              <a:defRPr sz="1900" b="1">
                <a:solidFill>
                  <a:srgbClr val="FFFFFF"/>
                </a:solidFill>
                <a:latin typeface="Segoe UI"/>
              </a:defRPr>
            </a:pPr>
            <a:r>
              <a:t>TECHNICAL APPROACH: END-TO-END SYSTEM &amp; AI PIPELINE</a:t>
            </a:r>
          </a:p>
          <a:p>
            <a:pPr>
              <a:defRPr sz="1050">
                <a:solidFill>
                  <a:srgbClr val="CBD5E1"/>
                </a:solidFill>
                <a:latin typeface="Segoe UI"/>
              </a:defRPr>
            </a:pPr>
            <a:r>
              <a:t>Hardware sensing architecture, multi-hop mesh telemetry, 16 causal AI features, and anomaly detection prototype</a:t>
            </a:r>
          </a:p>
        </p:txBody>
      </p:sp>
      <p:sp>
        <p:nvSpPr>
          <p:cNvPr id="3" name="TextBox 2"/>
          <p:cNvSpPr txBox="1"/>
          <p:nvPr/>
        </p:nvSpPr>
        <p:spPr>
          <a:xfrm>
            <a:off x="9601200" y="91440"/>
            <a:ext cx="2130552" cy="731520"/>
          </a:xfrm>
          <a:prstGeom prst="rect">
            <a:avLst/>
          </a:prstGeom>
          <a:noFill/>
        </p:spPr>
        <p:txBody>
          <a:bodyPr wrap="square">
            <a:spAutoFit/>
          </a:bodyPr>
          <a:lstStyle/>
          <a:p>
            <a:pPr algn="r">
              <a:defRPr sz="1050" b="1">
                <a:solidFill>
                  <a:srgbClr val="C07D2B"/>
                </a:solidFill>
                <a:latin typeface="Segoe UI"/>
              </a:defRPr>
            </a:pPr>
            <a:r>
              <a:t>SIH 2026 | PS 26025</a:t>
            </a:r>
          </a:p>
          <a:p>
            <a:pPr algn="r">
              <a:defRPr sz="950">
                <a:solidFill>
                  <a:srgbClr val="94A3B8"/>
                </a:solidFill>
                <a:latin typeface="Segoe UI"/>
              </a:defRPr>
            </a:pPr>
            <a:r>
              <a:t>Slide 3 / 6</a:t>
            </a:r>
          </a:p>
        </p:txBody>
      </p:sp>
      <p:pic>
        <p:nvPicPr>
          <p:cNvPr id="4" name="Picture 3" descr="ai_pipeline_slim.png"/>
          <p:cNvPicPr>
            <a:picLocks noChangeAspect="1"/>
          </p:cNvPicPr>
          <p:nvPr/>
        </p:nvPicPr>
        <p:blipFill>
          <a:blip r:embed="rId2"/>
          <a:stretch>
            <a:fillRect/>
          </a:stretch>
        </p:blipFill>
        <p:spPr>
          <a:xfrm>
            <a:off x="548640" y="1051560"/>
            <a:ext cx="11094415" cy="2331720"/>
          </a:xfrm>
          <a:prstGeom prst="rect">
            <a:avLst/>
          </a:prstGeom>
        </p:spPr>
      </p:pic>
      <p:sp>
        <p:nvSpPr>
          <p:cNvPr id="5" name="Rounded Rectangle 4"/>
          <p:cNvSpPr/>
          <p:nvPr/>
        </p:nvSpPr>
        <p:spPr>
          <a:xfrm>
            <a:off x="548640" y="3520440"/>
            <a:ext cx="5669280" cy="3063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050" b="1">
                <a:solidFill>
                  <a:srgbClr val="0F172A"/>
                </a:solidFill>
                <a:latin typeface="Segoe UI"/>
              </a:defRPr>
            </a:pPr>
            <a:r>
              <a:t>AI ANOMALY DETECTION SUBSYSTEM &amp; 16 CAUSAL FEATURES</a:t>
            </a:r>
          </a:p>
          <a:p>
            <a:pPr>
              <a:spcBef>
                <a:spcPts val="300"/>
              </a:spcBef>
              <a:defRPr sz="850">
                <a:solidFill>
                  <a:srgbClr val="0F172A"/>
                </a:solidFill>
                <a:latin typeface="Segoe UI"/>
              </a:defRPr>
            </a:pPr>
            <a:r>
              <a:t>• Baseline Calibration (First 4h / 14,400s): Fits site-specific μ, σ, median, MAD &amp; thermal drift coefficient (α_thermal = +0.00366°/C). Frozen reference prevents anomaly leakage.</a:t>
            </a:r>
          </a:p>
          <a:p>
            <a:pPr>
              <a:spcBef>
                <a:spcPts val="300"/>
              </a:spcBef>
              <a:defRPr sz="830">
                <a:solidFill>
                  <a:srgbClr val="0F172A"/>
                </a:solidFill>
                <a:latin typeface="Segoe UI"/>
              </a:defRPr>
            </a:pPr>
            <a:r>
              <a:t>• 16 Causal Features (Strictly Past-Only / Zero Data Leakage):</a:t>
            </a:r>
            <a:br/>
            <a:r>
              <a:t>  - 4 Baseline Z-scores: z_tilt, z_displacement, z_vibration, z_temperature</a:t>
            </a:r>
            <a:br/>
            <a:r>
              <a:t>  - 4 Kinematic Derivatives (5s): tilt_rate, disp_rate, disp_accel, vib_rate</a:t>
            </a:r>
            <a:br/>
            <a:r>
              <a:t>  - 6 Rolling Volatility (30s): tilt_mean_30s, tilt_std_30s, vib_std_30s, volatility_ratio..</a:t>
            </a:r>
            <a:br/>
            <a:r>
              <a:t>  - 2 Decoupled Thermal: delta_temperature, detrended_tilt</a:t>
            </a:r>
          </a:p>
          <a:p>
            <a:pPr>
              <a:spcBef>
                <a:spcPts val="300"/>
              </a:spcBef>
              <a:defRPr sz="850" b="1">
                <a:solidFill>
                  <a:srgbClr val="2D5A43"/>
                </a:solidFill>
                <a:latin typeface="Segoe UI"/>
              </a:defRPr>
            </a:pPr>
            <a:r>
              <a:t>• Isolation Forest-Based Anomaly Detection Prototype: 300 estimators; continuous anomaly score in [0, 100] via tanh mapping. Evaluated on synthetic strata simulation data (diagnostic aid, not certified failure prediction).</a:t>
            </a:r>
          </a:p>
        </p:txBody>
      </p:sp>
      <p:sp>
        <p:nvSpPr>
          <p:cNvPr id="6" name="Rounded Rectangle 5"/>
          <p:cNvSpPr/>
          <p:nvPr/>
        </p:nvSpPr>
        <p:spPr>
          <a:xfrm>
            <a:off x="6400800" y="3520440"/>
            <a:ext cx="5242255" cy="30632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050" b="1">
                <a:solidFill>
                  <a:srgbClr val="0F172A"/>
                </a:solidFill>
                <a:latin typeface="Segoe UI"/>
              </a:defRPr>
            </a:pPr>
            <a:r>
              <a:t>IMPLEMENTED SYSTEM ARCHITECTURE &amp; TECH STACK</a:t>
            </a:r>
          </a:p>
          <a:p>
            <a:pPr>
              <a:spcBef>
                <a:spcPts val="300"/>
              </a:spcBef>
              <a:defRPr sz="880" b="1">
                <a:solidFill>
                  <a:srgbClr val="2563EB"/>
                </a:solidFill>
                <a:latin typeface="Segoe UI"/>
              </a:defRPr>
            </a:pPr>
            <a:r>
              <a:t>• Edge Hardware Architecture: </a:t>
            </a:r>
          </a:p>
          <a:p>
            <a:pPr>
              <a:defRPr sz="819">
                <a:solidFill>
                  <a:srgbClr val="0F172A"/>
                </a:solidFill>
                <a:latin typeface="Segoe UI"/>
              </a:defRPr>
            </a:pPr>
            <a:r>
              <a:t>ESP32 Dual-Core SoC (240MHz) + MPU6050 6-DOF IMU (I2C interface). ESP-NOW 2.4 GHz low-overhead peer protocol with node ID, sequence, and hop-count headers.</a:t>
            </a:r>
          </a:p>
          <a:p>
            <a:pPr>
              <a:spcBef>
                <a:spcPts val="300"/>
              </a:spcBef>
              <a:defRPr sz="880" b="1">
                <a:solidFill>
                  <a:srgbClr val="2563EB"/>
                </a:solidFill>
                <a:latin typeface="Segoe UI"/>
              </a:defRPr>
            </a:pPr>
            <a:r>
              <a:t>• Backend &amp; Middleware: </a:t>
            </a:r>
          </a:p>
          <a:p>
            <a:pPr>
              <a:defRPr sz="819">
                <a:solidFill>
                  <a:srgbClr val="0F172A"/>
                </a:solidFill>
                <a:latin typeface="Segoe UI"/>
              </a:defRPr>
            </a:pPr>
            <a:r>
              <a:t>Node.js &amp; Express.js REST API (/api/telemetry). Socket.IO real-time event dispatcher. In-memory per-node 120s causal ring buffers.</a:t>
            </a:r>
          </a:p>
          <a:p>
            <a:pPr>
              <a:spcBef>
                <a:spcPts val="300"/>
              </a:spcBef>
              <a:defRPr sz="880" b="1">
                <a:solidFill>
                  <a:srgbClr val="2563EB"/>
                </a:solidFill>
                <a:latin typeface="Segoe UI"/>
              </a:defRPr>
            </a:pPr>
            <a:r>
              <a:t>• AI &amp; Anomaly Engine: </a:t>
            </a:r>
          </a:p>
          <a:p>
            <a:pPr>
              <a:defRPr sz="819">
                <a:solidFill>
                  <a:srgbClr val="0F172A"/>
                </a:solidFill>
                <a:latin typeface="Segoe UI"/>
              </a:defRPr>
            </a:pPr>
            <a:r>
              <a:t>Python scikit-learn training pipeline; exported JSON tree models for sub-ms Node.js runtime inference with multi-signal transparent risk rules.</a:t>
            </a:r>
          </a:p>
          <a:p>
            <a:pPr>
              <a:spcBef>
                <a:spcPts val="300"/>
              </a:spcBef>
              <a:defRPr sz="880" b="1">
                <a:solidFill>
                  <a:srgbClr val="2563EB"/>
                </a:solidFill>
                <a:latin typeface="Segoe UI"/>
              </a:defRPr>
            </a:pPr>
            <a:r>
              <a:t>• SCADA Frontend Dashboard: </a:t>
            </a:r>
          </a:p>
          <a:p>
            <a:pPr>
              <a:defRPr sz="819">
                <a:solidFill>
                  <a:srgbClr val="0F172A"/>
                </a:solidFill>
                <a:latin typeface="Segoe UI"/>
              </a:defRPr>
            </a:pPr>
            <a:r>
              <a:t>React + TailwindCSS + Recharts. Responsive industrial SCADA UI with SVG Mine Panel map, live tilt progression charts, and alert center.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rIns="457200"/>
          <a:lstStyle/>
          <a:p>
            <a:pPr algn="ctr">
              <a:defRPr sz="1900" b="1">
                <a:solidFill>
                  <a:srgbClr val="FFFFFF"/>
                </a:solidFill>
                <a:latin typeface="Segoe UI"/>
              </a:defRPr>
            </a:pPr>
            <a:r>
              <a:t>FEASIBILITY, VIABILITY &amp; ENGINEERING REALISM</a:t>
            </a:r>
          </a:p>
          <a:p>
            <a:pPr>
              <a:defRPr sz="1050">
                <a:solidFill>
                  <a:srgbClr val="CBD5E1"/>
                </a:solidFill>
                <a:latin typeface="Segoe UI"/>
              </a:defRPr>
            </a:pPr>
            <a:r>
              <a:t>Challenge-response engineering matrix, operational viability, and verified implementation status</a:t>
            </a:r>
          </a:p>
        </p:txBody>
      </p:sp>
      <p:sp>
        <p:nvSpPr>
          <p:cNvPr id="3" name="TextBox 2"/>
          <p:cNvSpPr txBox="1"/>
          <p:nvPr/>
        </p:nvSpPr>
        <p:spPr>
          <a:xfrm>
            <a:off x="9601200" y="91440"/>
            <a:ext cx="2130552" cy="731520"/>
          </a:xfrm>
          <a:prstGeom prst="rect">
            <a:avLst/>
          </a:prstGeom>
          <a:noFill/>
        </p:spPr>
        <p:txBody>
          <a:bodyPr wrap="square">
            <a:spAutoFit/>
          </a:bodyPr>
          <a:lstStyle/>
          <a:p>
            <a:pPr algn="r">
              <a:defRPr sz="1050" b="1">
                <a:solidFill>
                  <a:srgbClr val="C07D2B"/>
                </a:solidFill>
                <a:latin typeface="Segoe UI"/>
              </a:defRPr>
            </a:pPr>
            <a:r>
              <a:t>SIH 2026 | PS 26025</a:t>
            </a:r>
          </a:p>
          <a:p>
            <a:pPr algn="r">
              <a:defRPr sz="950">
                <a:solidFill>
                  <a:srgbClr val="94A3B8"/>
                </a:solidFill>
                <a:latin typeface="Segoe UI"/>
              </a:defRPr>
            </a:pPr>
            <a:r>
              <a:t>Slide 4 / 6</a:t>
            </a:r>
          </a:p>
        </p:txBody>
      </p:sp>
      <p:sp>
        <p:nvSpPr>
          <p:cNvPr id="4" name="Rounded Rectangle 3"/>
          <p:cNvSpPr/>
          <p:nvPr/>
        </p:nvSpPr>
        <p:spPr>
          <a:xfrm>
            <a:off x="548640" y="1097280"/>
            <a:ext cx="3474720" cy="54406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defRPr sz="1050" b="1">
                <a:solidFill>
                  <a:srgbClr val="DC2626"/>
                </a:solidFill>
                <a:latin typeface="Segoe UI"/>
              </a:defRPr>
            </a:pPr>
            <a:r>
              <a:t>ENGINEERING CHALLENGE &amp; MITIGATION</a:t>
            </a:r>
          </a:p>
          <a:p>
            <a:pPr>
              <a:spcBef>
                <a:spcPts val="400"/>
              </a:spcBef>
              <a:defRPr sz="880" b="1">
                <a:solidFill>
                  <a:srgbClr val="0F172A"/>
                </a:solidFill>
                <a:latin typeface="Segoe UI"/>
              </a:defRPr>
            </a:pPr>
            <a:r>
              <a:t>▶ Sensor Noise &amp; Thermal Drift:</a:t>
            </a:r>
          </a:p>
          <a:p>
            <a:pPr>
              <a:defRPr sz="819">
                <a:solidFill>
                  <a:srgbClr val="64748B"/>
                </a:solidFill>
                <a:latin typeface="Segoe UI"/>
              </a:defRPr>
            </a:pPr>
            <a:r>
              <a:t>Baseline calibration with empirical thermal regression (α = +0.00366°/C) to decouple diurnal day-night ambient expansion from genuine strata tilt.</a:t>
            </a:r>
          </a:p>
          <a:p>
            <a:pPr>
              <a:spcBef>
                <a:spcPts val="400"/>
              </a:spcBef>
              <a:defRPr sz="880" b="1">
                <a:solidFill>
                  <a:srgbClr val="0F172A"/>
                </a:solidFill>
                <a:latin typeface="Segoe UI"/>
              </a:defRPr>
            </a:pPr>
            <a:r>
              <a:t>▶ Surface Obstacles &amp; Line-of-Sight:</a:t>
            </a:r>
          </a:p>
          <a:p>
            <a:pPr>
              <a:defRPr sz="819">
                <a:solidFill>
                  <a:srgbClr val="64748B"/>
                </a:solidFill>
                <a:latin typeface="Segoe UI"/>
              </a:defRPr>
            </a:pPr>
            <a:r>
              <a:t>Multi-hop relay topology enables flexible line-of-sight routing around surface terrain obstacles without cellular modules on every node.</a:t>
            </a:r>
          </a:p>
          <a:p>
            <a:pPr>
              <a:spcBef>
                <a:spcPts val="400"/>
              </a:spcBef>
              <a:defRPr sz="880" b="1">
                <a:solidFill>
                  <a:srgbClr val="0F172A"/>
                </a:solidFill>
                <a:latin typeface="Segoe UI"/>
              </a:defRPr>
            </a:pPr>
            <a:r>
              <a:t>▶ Real Mine Data Scarcity:</a:t>
            </a:r>
          </a:p>
          <a:p>
            <a:pPr>
              <a:defRPr sz="819">
                <a:solidFill>
                  <a:srgbClr val="64748B"/>
                </a:solidFill>
                <a:latin typeface="Segoe UI"/>
              </a:defRPr>
            </a:pPr>
            <a:r>
              <a:t>Physics-based strata caving simulation benchmark + external landslide proxy dataset audit (40.6k records) for empirical noise modeling.</a:t>
            </a:r>
          </a:p>
          <a:p>
            <a:pPr>
              <a:spcBef>
                <a:spcPts val="400"/>
              </a:spcBef>
              <a:defRPr sz="880" b="1">
                <a:solidFill>
                  <a:srgbClr val="0F172A"/>
                </a:solidFill>
                <a:latin typeface="Segoe UI"/>
              </a:defRPr>
            </a:pPr>
            <a:r>
              <a:t>▶ False Alarm Mitigation:</a:t>
            </a:r>
          </a:p>
          <a:p>
            <a:pPr>
              <a:defRPr sz="819">
                <a:solidFill>
                  <a:srgbClr val="64748B"/>
                </a:solidFill>
                <a:latin typeface="Segoe UI"/>
              </a:defRPr>
            </a:pPr>
            <a:r>
              <a:t>Multi-signal fusion combining physical angle thresholds, 5s rate-of-change, and Isolation Forest statistical anomaly score.</a:t>
            </a:r>
          </a:p>
          <a:p>
            <a:pPr>
              <a:spcBef>
                <a:spcPts val="400"/>
              </a:spcBef>
              <a:defRPr sz="880" b="1">
                <a:solidFill>
                  <a:srgbClr val="0F172A"/>
                </a:solidFill>
                <a:latin typeface="Segoe UI"/>
              </a:defRPr>
            </a:pPr>
            <a:r>
              <a:t>▶ Power Autonomy in Remote Mines:</a:t>
            </a:r>
          </a:p>
          <a:p>
            <a:pPr>
              <a:defRPr sz="819">
                <a:solidFill>
                  <a:srgbClr val="64748B"/>
                </a:solidFill>
                <a:latin typeface="Segoe UI"/>
              </a:defRPr>
            </a:pPr>
            <a:r>
              <a:t>Low-power ESP32 sleep modes (&lt;20ms active TX) paired with compact solar-battery harvesting.</a:t>
            </a:r>
          </a:p>
        </p:txBody>
      </p:sp>
      <p:sp>
        <p:nvSpPr>
          <p:cNvPr id="5" name="Rounded Rectangle 4"/>
          <p:cNvSpPr/>
          <p:nvPr/>
        </p:nvSpPr>
        <p:spPr>
          <a:xfrm>
            <a:off x="4358030" y="1097280"/>
            <a:ext cx="3474720" cy="54406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defRPr sz="1050" b="1">
                <a:solidFill>
                  <a:srgbClr val="C07D2B"/>
                </a:solidFill>
                <a:latin typeface="Segoe UI"/>
              </a:defRPr>
            </a:pPr>
            <a:r>
              <a:t>OPERATIONAL &amp; ECONOMIC VIABILITY</a:t>
            </a:r>
          </a:p>
          <a:p>
            <a:pPr>
              <a:spcBef>
                <a:spcPts val="500"/>
              </a:spcBef>
              <a:defRPr sz="880" b="1">
                <a:solidFill>
                  <a:srgbClr val="0F172A"/>
                </a:solidFill>
                <a:latin typeface="Segoe UI"/>
              </a:defRPr>
            </a:pPr>
            <a:r>
              <a:t>✔ Low-Cost Commodity Hardware Design:</a:t>
            </a:r>
          </a:p>
          <a:p>
            <a:pPr>
              <a:defRPr sz="819">
                <a:solidFill>
                  <a:srgbClr val="64748B"/>
                </a:solidFill>
                <a:latin typeface="Segoe UI"/>
              </a:defRPr>
            </a:pPr>
            <a:r>
              <a:t>Utilizes off-the-shelf microcontrollers (ESP32) and MEMS IMUs (MPU6050), targeting a fraction of the cost of commercial robotic total stations or imported extensometers.</a:t>
            </a:r>
          </a:p>
          <a:p>
            <a:pPr>
              <a:spcBef>
                <a:spcPts val="500"/>
              </a:spcBef>
              <a:defRPr sz="880" b="1">
                <a:solidFill>
                  <a:srgbClr val="0F172A"/>
                </a:solidFill>
                <a:latin typeface="Segoe UI"/>
              </a:defRPr>
            </a:pPr>
            <a:r>
              <a:t>✔ Rapid Surface Deployment:</a:t>
            </a:r>
          </a:p>
          <a:p>
            <a:pPr>
              <a:defRPr sz="819">
                <a:solidFill>
                  <a:srgbClr val="64748B"/>
                </a:solidFill>
                <a:latin typeface="Segoe UI"/>
              </a:defRPr>
            </a:pPr>
            <a:r>
              <a:t>Installed on surface ground anchors in hours without specialized surveying crews or drilling expensive boreholes.</a:t>
            </a:r>
          </a:p>
          <a:p>
            <a:pPr>
              <a:spcBef>
                <a:spcPts val="500"/>
              </a:spcBef>
              <a:defRPr sz="880" b="1">
                <a:solidFill>
                  <a:srgbClr val="0F172A"/>
                </a:solidFill>
                <a:latin typeface="Segoe UI"/>
              </a:defRPr>
            </a:pPr>
            <a:r>
              <a:t>✔ Non-Disruptive Monitoring:</a:t>
            </a:r>
          </a:p>
          <a:p>
            <a:pPr>
              <a:defRPr sz="819">
                <a:solidFill>
                  <a:srgbClr val="64748B"/>
                </a:solidFill>
                <a:latin typeface="Segoe UI"/>
              </a:defRPr>
            </a:pPr>
            <a:r>
              <a:t>Surface installation allows continuous tracking without interrupting underground coal extraction, hauling, or ventilation.</a:t>
            </a:r>
          </a:p>
          <a:p>
            <a:pPr>
              <a:spcBef>
                <a:spcPts val="500"/>
              </a:spcBef>
              <a:defRPr sz="880" b="1">
                <a:solidFill>
                  <a:srgbClr val="0F172A"/>
                </a:solidFill>
                <a:latin typeface="Segoe UI"/>
              </a:defRPr>
            </a:pPr>
            <a:r>
              <a:t>✔ Regulatory Alignment:</a:t>
            </a:r>
          </a:p>
          <a:p>
            <a:pPr>
              <a:defRPr sz="819">
                <a:solidFill>
                  <a:srgbClr val="64748B"/>
                </a:solidFill>
                <a:latin typeface="Segoe UI"/>
              </a:defRPr>
            </a:pPr>
            <a:r>
              <a:t>Designed to support Directorate General of Mines Safety (DGMS) strata monitoring workflows and safety documentation.</a:t>
            </a:r>
          </a:p>
          <a:p>
            <a:pPr>
              <a:spcBef>
                <a:spcPts val="500"/>
              </a:spcBef>
              <a:defRPr sz="880" b="1">
                <a:solidFill>
                  <a:srgbClr val="0F172A"/>
                </a:solidFill>
                <a:latin typeface="Segoe UI"/>
              </a:defRPr>
            </a:pPr>
            <a:r>
              <a:t>✔ Modular Grid Scalability:</a:t>
            </a:r>
          </a:p>
          <a:p>
            <a:pPr>
              <a:defRPr sz="819">
                <a:solidFill>
                  <a:srgbClr val="64748B"/>
                </a:solidFill>
                <a:latin typeface="Segoe UI"/>
              </a:defRPr>
            </a:pPr>
            <a:r>
              <a:t>Panel grids expand by deploying additional relay nodes; gateway aggregates data across extensive longwall panels.</a:t>
            </a:r>
          </a:p>
        </p:txBody>
      </p:sp>
      <p:sp>
        <p:nvSpPr>
          <p:cNvPr id="6" name="Rounded Rectangle 5"/>
          <p:cNvSpPr/>
          <p:nvPr/>
        </p:nvSpPr>
        <p:spPr>
          <a:xfrm>
            <a:off x="8168335" y="1097280"/>
            <a:ext cx="3474720" cy="544068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64592" tIns="109728"/>
          <a:lstStyle/>
          <a:p>
            <a:pPr algn="ctr">
              <a:defRPr sz="1050" b="1">
                <a:solidFill>
                  <a:srgbClr val="2D5A43"/>
                </a:solidFill>
                <a:latin typeface="Segoe UI"/>
              </a:defRPr>
            </a:pPr>
            <a:r>
              <a:t>IMPLEMENTATION &amp; ROADMAP HONESTY</a:t>
            </a:r>
          </a:p>
          <a:p>
            <a:pPr>
              <a:spcBef>
                <a:spcPts val="300"/>
              </a:spcBef>
              <a:defRPr sz="900" b="1">
                <a:solidFill>
                  <a:srgbClr val="2D5A43"/>
                </a:solidFill>
                <a:latin typeface="Segoe UI"/>
              </a:defRPr>
            </a:pPr>
            <a:r>
              <a:t>CURRENTLY IMPLEMENTED PROTOTYPE:</a:t>
            </a:r>
          </a:p>
          <a:p>
            <a:pPr>
              <a:defRPr sz="810">
                <a:solidFill>
                  <a:srgbClr val="0F172A"/>
                </a:solidFill>
                <a:latin typeface="Segoe UI"/>
              </a:defRPr>
            </a:pPr>
            <a:r>
              <a:t>• 3-node ESP-NOW multi-hop prototype architecture implemented; physical end-to-end hardware validation underway.</a:t>
            </a:r>
          </a:p>
          <a:p>
            <a:pPr>
              <a:defRPr sz="810">
                <a:solidFill>
                  <a:srgbClr val="0F172A"/>
                </a:solidFill>
                <a:latin typeface="Segoe UI"/>
              </a:defRPr>
            </a:pPr>
            <a:r>
              <a:t>• Full REST telemetry ingestion API (/api/telemetry) &amp; Socket.IO live stream.</a:t>
            </a:r>
          </a:p>
          <a:p>
            <a:pPr>
              <a:defRPr sz="810">
                <a:solidFill>
                  <a:srgbClr val="0F172A"/>
                </a:solidFill>
                <a:latin typeface="Segoe UI"/>
              </a:defRPr>
            </a:pPr>
            <a:r>
              <a:t>• Causal 16-feature extraction pipeline &amp; baseline calibrator.</a:t>
            </a:r>
          </a:p>
          <a:p>
            <a:pPr>
              <a:defRPr sz="810">
                <a:solidFill>
                  <a:srgbClr val="0F172A"/>
                </a:solidFill>
                <a:latin typeface="Segoe UI"/>
              </a:defRPr>
            </a:pPr>
            <a:r>
              <a:t>• Isolation Forest anomaly detection prototype (sub-ms runtime).</a:t>
            </a:r>
          </a:p>
          <a:p>
            <a:pPr>
              <a:defRPr sz="810">
                <a:solidFill>
                  <a:srgbClr val="0F172A"/>
                </a:solidFill>
                <a:latin typeface="Segoe UI"/>
              </a:defRPr>
            </a:pPr>
            <a:r>
              <a:t>• SCADA-style React dashboard with interactive mine panel map.</a:t>
            </a:r>
          </a:p>
          <a:p>
            <a:pPr>
              <a:spcBef>
                <a:spcPts val="600"/>
              </a:spcBef>
              <a:defRPr sz="900" b="1">
                <a:solidFill>
                  <a:srgbClr val="C07D2B"/>
                </a:solidFill>
                <a:latin typeface="Segoe UI"/>
              </a:defRPr>
            </a:pPr>
            <a:r>
              <a:t>PLANNED FIELD ROADMAP (HONEST DISCLOSURE):</a:t>
            </a:r>
          </a:p>
          <a:p>
            <a:pPr>
              <a:defRPr sz="810">
                <a:solidFill>
                  <a:srgbClr val="0F172A"/>
                </a:solidFill>
                <a:latin typeface="Segoe UI"/>
              </a:defRPr>
            </a:pPr>
            <a:r>
              <a:t>○ Sub-GHz LoRa / LoRaWAN transceivers for kilometer-range mesh scaling.</a:t>
            </a:r>
          </a:p>
          <a:p>
            <a:pPr>
              <a:defRPr sz="810">
                <a:solidFill>
                  <a:srgbClr val="0F172A"/>
                </a:solidFill>
                <a:latin typeface="Segoe UI"/>
              </a:defRPr>
            </a:pPr>
            <a:r>
              <a:t>○ Active mine site pilot trials collocated with high-precision extensometers.</a:t>
            </a:r>
          </a:p>
          <a:p>
            <a:pPr>
              <a:defRPr sz="810">
                <a:solidFill>
                  <a:srgbClr val="0F172A"/>
                </a:solidFill>
                <a:latin typeface="Segoe UI"/>
              </a:defRPr>
            </a:pPr>
            <a:r>
              <a:t>○ Field calibration of configurable prototype thresholds (e.g. 1.00° warning, 2.00° critical, pending DGMS site guidelines).</a:t>
            </a:r>
          </a:p>
          <a:p>
            <a:pPr>
              <a:defRPr sz="810">
                <a:solidFill>
                  <a:srgbClr val="0F172A"/>
                </a:solidFill>
                <a:latin typeface="Segoe UI"/>
              </a:defRPr>
            </a:pPr>
            <a:r>
              <a:t>○ Edge TinyML deployment directly on ESP32 microcontroller.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rIns="457200"/>
          <a:lstStyle/>
          <a:p>
            <a:pPr algn="ctr">
              <a:defRPr sz="1900" b="1">
                <a:solidFill>
                  <a:srgbClr val="FFFFFF"/>
                </a:solidFill>
                <a:latin typeface="Segoe UI"/>
              </a:defRPr>
            </a:pPr>
            <a:r>
              <a:t>SYSTEM IMPACT, SAFETY &amp; STRATEGIC VALUE</a:t>
            </a:r>
          </a:p>
          <a:p>
            <a:pPr>
              <a:defRPr sz="1050">
                <a:solidFill>
                  <a:srgbClr val="CBD5E1"/>
                </a:solidFill>
                <a:latin typeface="Segoe UI"/>
              </a:defRPr>
            </a:pPr>
            <a:r>
              <a:t>Transforming mine safety, surface asset protection, environmental integrity, and operational efficiency</a:t>
            </a:r>
          </a:p>
        </p:txBody>
      </p:sp>
      <p:sp>
        <p:nvSpPr>
          <p:cNvPr id="3" name="TextBox 2"/>
          <p:cNvSpPr txBox="1"/>
          <p:nvPr/>
        </p:nvSpPr>
        <p:spPr>
          <a:xfrm>
            <a:off x="9601200" y="91440"/>
            <a:ext cx="2130552" cy="731520"/>
          </a:xfrm>
          <a:prstGeom prst="rect">
            <a:avLst/>
          </a:prstGeom>
          <a:noFill/>
        </p:spPr>
        <p:txBody>
          <a:bodyPr wrap="square">
            <a:spAutoFit/>
          </a:bodyPr>
          <a:lstStyle/>
          <a:p>
            <a:pPr algn="r">
              <a:defRPr sz="1050" b="1">
                <a:solidFill>
                  <a:srgbClr val="C07D2B"/>
                </a:solidFill>
                <a:latin typeface="Segoe UI"/>
              </a:defRPr>
            </a:pPr>
            <a:r>
              <a:t>SIH 2026 | PS 26025</a:t>
            </a:r>
          </a:p>
          <a:p>
            <a:pPr algn="r">
              <a:defRPr sz="950">
                <a:solidFill>
                  <a:srgbClr val="94A3B8"/>
                </a:solidFill>
                <a:latin typeface="Segoe UI"/>
              </a:defRPr>
            </a:pPr>
            <a:r>
              <a:t>Slide 5 / 6</a:t>
            </a:r>
          </a:p>
        </p:txBody>
      </p:sp>
      <p:sp>
        <p:nvSpPr>
          <p:cNvPr id="4" name="Rounded Rectangle 3"/>
          <p:cNvSpPr/>
          <p:nvPr/>
        </p:nvSpPr>
        <p:spPr>
          <a:xfrm>
            <a:off x="548640" y="1188720"/>
            <a:ext cx="3017520" cy="2514600"/>
          </a:xfrm>
          <a:prstGeom prst="roundRect">
            <a:avLst/>
          </a:prstGeom>
          <a:solidFill>
            <a:srgbClr val="FEE2E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sz="1000" b="1">
                <a:solidFill>
                  <a:srgbClr val="DC2626"/>
                </a:solidFill>
                <a:latin typeface="Segoe UI"/>
              </a:defRPr>
            </a:pPr>
            <a:r>
              <a:t>1. MINE &amp; COMMUNITY SAFETY</a:t>
            </a:r>
          </a:p>
          <a:p>
            <a:pPr>
              <a:defRPr sz="830">
                <a:solidFill>
                  <a:srgbClr val="0F172A"/>
                </a:solidFill>
                <a:latin typeface="Segoe UI"/>
              </a:defRPr>
            </a:pPr>
            <a:r>
              <a:t>• 24/7 Autonomous Tracking: Reduces manual survey hazards by automating ground movement monitoring in active subsidence zones.</a:t>
            </a:r>
            <a:br/>
            <a:r>
              <a:t>• Early Anomaly Warning: Designed to detect subtle tilt rate changes before macroscopic surface fractures occur.</a:t>
            </a:r>
            <a:br/>
            <a:r>
              <a:t>• Life &amp; Settlement Protection: Provides early decision support to assist timely evacuation of surface structures and mining colonies.</a:t>
            </a:r>
          </a:p>
        </p:txBody>
      </p:sp>
      <p:sp>
        <p:nvSpPr>
          <p:cNvPr id="5" name="Rounded Rectangle 4"/>
          <p:cNvSpPr/>
          <p:nvPr/>
        </p:nvSpPr>
        <p:spPr>
          <a:xfrm>
            <a:off x="3749039" y="1188720"/>
            <a:ext cx="3017520" cy="2514600"/>
          </a:xfrm>
          <a:prstGeom prst="roundRect">
            <a:avLst/>
          </a:prstGeom>
          <a:solidFill>
            <a:srgbClr val="FEF3C7"/>
          </a:solidFill>
          <a:ln w="12700">
            <a:solidFill>
              <a:srgbClr val="C07D2B"/>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sz="1000" b="1">
                <a:solidFill>
                  <a:srgbClr val="C07D2B"/>
                </a:solidFill>
                <a:latin typeface="Segoe UI"/>
              </a:defRPr>
            </a:pPr>
            <a:r>
              <a:t>2. INFRASTRUCTURE &amp; ECONOMIC VALUE</a:t>
            </a:r>
          </a:p>
          <a:p>
            <a:pPr>
              <a:defRPr sz="830">
                <a:solidFill>
                  <a:srgbClr val="0F172A"/>
                </a:solidFill>
                <a:latin typeface="Segoe UI"/>
              </a:defRPr>
            </a:pPr>
            <a:r>
              <a:t>• Asset Protection: Aids early intervention for overland railway lines, highways, transmission towers, and water pipelines.</a:t>
            </a:r>
            <a:br/>
            <a:r>
              <a:t>• Operational Continuity: Helps avoid emergency unplanned mine shutdowns through continuous surveillance.</a:t>
            </a:r>
            <a:br/>
            <a:r>
              <a:t>• Scalable Cost Profile: Commodity hardware enables dense spatial grid coverage across multiple extraction blocks.</a:t>
            </a:r>
          </a:p>
        </p:txBody>
      </p:sp>
      <p:sp>
        <p:nvSpPr>
          <p:cNvPr id="6" name="Rounded Rectangle 5"/>
          <p:cNvSpPr/>
          <p:nvPr/>
        </p:nvSpPr>
        <p:spPr>
          <a:xfrm>
            <a:off x="548640" y="3886200"/>
            <a:ext cx="3017520" cy="2514600"/>
          </a:xfrm>
          <a:prstGeom prst="roundRect">
            <a:avLst/>
          </a:prstGeom>
          <a:solidFill>
            <a:srgbClr val="DCFCE7"/>
          </a:solidFill>
          <a:ln w="12700">
            <a:solidFill>
              <a:srgbClr val="2D5A43"/>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sz="1000" b="1">
                <a:solidFill>
                  <a:srgbClr val="2D5A43"/>
                </a:solidFill>
                <a:latin typeface="Segoe UI"/>
              </a:defRPr>
            </a:pPr>
            <a:r>
              <a:t>3. ENVIRONMENTAL &amp; LAND PROTECTION</a:t>
            </a:r>
          </a:p>
          <a:p>
            <a:pPr>
              <a:defRPr sz="830">
                <a:solidFill>
                  <a:srgbClr val="0F172A"/>
                </a:solidFill>
                <a:latin typeface="Segoe UI"/>
              </a:defRPr>
            </a:pPr>
            <a:r>
              <a:t>• Aquifer &amp; Water Resource Protection: Early detection of ground fissuring enables timely surface sealing to mitigate groundwater drainage into the goaf.</a:t>
            </a:r>
            <a:br/>
            <a:r>
              <a:t>• Spontaneous Combustion Mitigation: Timely crack sealing reduces atmospheric oxygen ingress into abandoned coal goaf areas.</a:t>
            </a:r>
            <a:br/>
            <a:r>
              <a:t>• Targeted Land Reclamation: Informs post-mining land backfilling, grading, and ecological restoration.</a:t>
            </a:r>
          </a:p>
        </p:txBody>
      </p:sp>
      <p:sp>
        <p:nvSpPr>
          <p:cNvPr id="7" name="Rounded Rectangle 6"/>
          <p:cNvSpPr/>
          <p:nvPr/>
        </p:nvSpPr>
        <p:spPr>
          <a:xfrm>
            <a:off x="3749039" y="3886200"/>
            <a:ext cx="3017520" cy="25146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sz="1000" b="1">
                <a:solidFill>
                  <a:srgbClr val="2563EB"/>
                </a:solidFill>
                <a:latin typeface="Segoe UI"/>
              </a:defRPr>
            </a:pPr>
            <a:r>
              <a:t>4. OPERATIONAL MODERNIZATION</a:t>
            </a:r>
          </a:p>
          <a:p>
            <a:pPr>
              <a:defRPr sz="830">
                <a:solidFill>
                  <a:srgbClr val="0F172A"/>
                </a:solidFill>
                <a:latin typeface="Segoe UI"/>
              </a:defRPr>
            </a:pPr>
            <a:r>
              <a:t>• SCADA Telemetry Dashboard: Gives shift-in-charge real-time visual situational awareness across all active monitoring zones.</a:t>
            </a:r>
            <a:br/>
            <a:r>
              <a:t>• Automated Historical Logging: Maintains continuous time-series records to assist statutory DGMS compliance reporting.</a:t>
            </a:r>
            <a:br/>
            <a:r>
              <a:t>• Multi-Signal Decision Support: Combines physical tilt measurements with AI anomaly diagnostics for transparent evaluation.</a:t>
            </a:r>
          </a:p>
        </p:txBody>
      </p:sp>
      <p:pic>
        <p:nvPicPr>
          <p:cNvPr id="8" name="Picture 7" descr="impact_comparison_refined.png"/>
          <p:cNvPicPr>
            <a:picLocks noChangeAspect="1"/>
          </p:cNvPicPr>
          <p:nvPr/>
        </p:nvPicPr>
        <p:blipFill>
          <a:blip r:embed="rId2"/>
          <a:stretch>
            <a:fillRect/>
          </a:stretch>
        </p:blipFill>
        <p:spPr>
          <a:xfrm>
            <a:off x="6949440" y="1188720"/>
            <a:ext cx="4693615" cy="3046733"/>
          </a:xfrm>
          <a:prstGeom prst="rect">
            <a:avLst/>
          </a:prstGeom>
        </p:spPr>
      </p:pic>
      <p:sp>
        <p:nvSpPr>
          <p:cNvPr id="9" name="Rounded Rectangle 8"/>
          <p:cNvSpPr/>
          <p:nvPr/>
        </p:nvSpPr>
        <p:spPr>
          <a:xfrm>
            <a:off x="6949440" y="4800600"/>
            <a:ext cx="4693615" cy="160020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sz="950" b="1">
                <a:solidFill>
                  <a:srgbClr val="0F172A"/>
                </a:solidFill>
                <a:latin typeface="Segoe UI"/>
              </a:defRPr>
            </a:pPr>
            <a:r>
              <a:t>STRATEGIC PROFILE COMPARISON</a:t>
            </a:r>
          </a:p>
          <a:p>
            <a:pPr>
              <a:defRPr sz="830">
                <a:solidFill>
                  <a:srgbClr val="0F172A"/>
                </a:solidFill>
                <a:latin typeface="Segoe UI"/>
              </a:defRPr>
            </a:pPr>
            <a:r>
              <a:t>• Monitoring Cadence: Periodic Surveys (Weeks/Months) ➔ Continuous Real-Time Telemetry (1 Hz Prototype)</a:t>
            </a:r>
            <a:br/>
            <a:r>
              <a:t>• Hardware Approach: High-Cost Optical/Borehole Setups ➔ Low-Cost Distributed Wireless Mesh Grid</a:t>
            </a:r>
            <a:br/>
            <a:r>
              <a:t>• Weather Resilience: Optical Line-of-Sight Limitations ➔ All-Weather Surface-Anchored Inclinometers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91440" rIns="457200"/>
          <a:lstStyle/>
          <a:p>
            <a:pPr algn="ctr">
              <a:defRPr sz="1900" b="1">
                <a:solidFill>
                  <a:srgbClr val="FFFFFF"/>
                </a:solidFill>
                <a:latin typeface="Segoe UI"/>
              </a:defRPr>
            </a:pPr>
            <a:r>
              <a:t>RESEARCH FOUNDATIONS, REFERENCES &amp; WORKING SCADA UI</a:t>
            </a:r>
          </a:p>
          <a:p>
            <a:pPr>
              <a:defRPr sz="1050">
                <a:solidFill>
                  <a:srgbClr val="CBD5E1"/>
                </a:solidFill>
                <a:latin typeface="Segoe UI"/>
              </a:defRPr>
            </a:pPr>
            <a:r>
              <a:t>Academic grounding in strata mechanics, mesh networking, ML anomaly detection, and verified prototype UI</a:t>
            </a:r>
          </a:p>
        </p:txBody>
      </p:sp>
      <p:sp>
        <p:nvSpPr>
          <p:cNvPr id="3" name="TextBox 2"/>
          <p:cNvSpPr txBox="1"/>
          <p:nvPr/>
        </p:nvSpPr>
        <p:spPr>
          <a:xfrm>
            <a:off x="9601200" y="91440"/>
            <a:ext cx="2130552" cy="731520"/>
          </a:xfrm>
          <a:prstGeom prst="rect">
            <a:avLst/>
          </a:prstGeom>
          <a:noFill/>
        </p:spPr>
        <p:txBody>
          <a:bodyPr wrap="square">
            <a:spAutoFit/>
          </a:bodyPr>
          <a:lstStyle/>
          <a:p>
            <a:pPr algn="r">
              <a:defRPr sz="1050" b="1">
                <a:solidFill>
                  <a:srgbClr val="C07D2B"/>
                </a:solidFill>
                <a:latin typeface="Segoe UI"/>
              </a:defRPr>
            </a:pPr>
            <a:r>
              <a:t>SIH 2026 | PS 26025</a:t>
            </a:r>
          </a:p>
          <a:p>
            <a:pPr algn="r">
              <a:defRPr sz="950">
                <a:solidFill>
                  <a:srgbClr val="94A3B8"/>
                </a:solidFill>
                <a:latin typeface="Segoe UI"/>
              </a:defRPr>
            </a:pPr>
            <a:r>
              <a:t>Slide 6 / 6</a:t>
            </a:r>
          </a:p>
        </p:txBody>
      </p:sp>
      <p:sp>
        <p:nvSpPr>
          <p:cNvPr id="4" name="Rounded Rectangle 3"/>
          <p:cNvSpPr/>
          <p:nvPr/>
        </p:nvSpPr>
        <p:spPr>
          <a:xfrm>
            <a:off x="548640" y="1097280"/>
            <a:ext cx="2633472" cy="21488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sz="950" b="1">
                <a:solidFill>
                  <a:srgbClr val="0F172A"/>
                </a:solidFill>
                <a:latin typeface="Segoe UI"/>
              </a:defRPr>
            </a:pPr>
            <a:r>
              <a:t>1. STRATA MECHANICS</a:t>
            </a:r>
          </a:p>
          <a:p>
            <a:pPr>
              <a:defRPr sz="800">
                <a:solidFill>
                  <a:srgbClr val="64748B"/>
                </a:solidFill>
                <a:latin typeface="Segoe UI"/>
              </a:defRPr>
            </a:pPr>
            <a:r>
              <a:t>• Peng, S.S. (1992). Surface Subsidence Engineering. Society for Mining, Metallurgy, and Exploration (SME), Littleton, CO.</a:t>
            </a:r>
            <a:br/>
            <a:r>
              <a:t>• Foundational theory on subsidence troughs, inflection points, and tensile strain curves over extracted coal panels.</a:t>
            </a:r>
          </a:p>
        </p:txBody>
      </p:sp>
      <p:sp>
        <p:nvSpPr>
          <p:cNvPr id="5" name="Rounded Rectangle 4"/>
          <p:cNvSpPr/>
          <p:nvPr/>
        </p:nvSpPr>
        <p:spPr>
          <a:xfrm>
            <a:off x="3364992" y="1097280"/>
            <a:ext cx="2633472" cy="21488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sz="950" b="1">
                <a:solidFill>
                  <a:srgbClr val="0F172A"/>
                </a:solidFill>
                <a:latin typeface="Segoe UI"/>
              </a:defRPr>
            </a:pPr>
            <a:r>
              <a:t>2. DGMS STATUTORY CONTEXT</a:t>
            </a:r>
          </a:p>
          <a:p>
            <a:pPr>
              <a:defRPr sz="800">
                <a:solidFill>
                  <a:srgbClr val="64748B"/>
                </a:solidFill>
                <a:latin typeface="Segoe UI"/>
              </a:defRPr>
            </a:pPr>
            <a:r>
              <a:t>• Directorate General of Mines Safety (DGMS), Govt. of India (2017).</a:t>
            </a:r>
            <a:br/>
            <a:r>
              <a:t>• Coal Mines Regulations (CMR 2017), Reg. 123 &amp; DGMS Technical Circulars on Strata Control and Monitoring Plans (SCAMP).</a:t>
            </a:r>
            <a:br/>
            <a:r>
              <a:t>• Configurable prototype thresholds (1° warning, 2° critical) subject to site calibration.</a:t>
            </a:r>
          </a:p>
        </p:txBody>
      </p:sp>
      <p:sp>
        <p:nvSpPr>
          <p:cNvPr id="6" name="Rounded Rectangle 5"/>
          <p:cNvSpPr/>
          <p:nvPr/>
        </p:nvSpPr>
        <p:spPr>
          <a:xfrm>
            <a:off x="6181344" y="1097280"/>
            <a:ext cx="2633472" cy="2148840"/>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sz="950" b="1">
                <a:solidFill>
                  <a:srgbClr val="0F172A"/>
                </a:solidFill>
                <a:latin typeface="Segoe UI"/>
              </a:defRPr>
            </a:pPr>
            <a:r>
              <a:t>3. WIRELESS SENSOR MESH</a:t>
            </a:r>
          </a:p>
          <a:p>
            <a:pPr>
              <a:defRPr sz="800">
                <a:solidFill>
                  <a:srgbClr val="64748B"/>
                </a:solidFill>
                <a:latin typeface="Segoe UI"/>
              </a:defRPr>
            </a:pPr>
            <a:r>
              <a:t>• Bandyopadhyay, L. K., Chaulya, S. K., &amp; Mishra, P. K. (2010). Wireless Communication in Underground Mines: RFID-based Sensor Networking for Strata and Safety Monitoring. Springer.</a:t>
            </a:r>
            <a:br/>
            <a:r>
              <a:t>• Validates multi-hop relaying principles for robust geotechnical telemetry.</a:t>
            </a:r>
          </a:p>
        </p:txBody>
      </p:sp>
      <p:sp>
        <p:nvSpPr>
          <p:cNvPr id="7" name="Rounded Rectangle 6"/>
          <p:cNvSpPr/>
          <p:nvPr/>
        </p:nvSpPr>
        <p:spPr>
          <a:xfrm>
            <a:off x="8997696" y="1097280"/>
            <a:ext cx="2633472" cy="2148840"/>
          </a:xfrm>
          <a:prstGeom prst="roundRect">
            <a:avLst/>
          </a:prstGeom>
          <a:solidFill>
            <a:srgbClr val="DCFCE7"/>
          </a:solidFill>
          <a:ln w="12700">
            <a:solidFill>
              <a:srgbClr val="2D5A43"/>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defRPr sz="950" b="1">
                <a:solidFill>
                  <a:srgbClr val="2D5A43"/>
                </a:solidFill>
                <a:latin typeface="Segoe UI"/>
              </a:defRPr>
            </a:pPr>
            <a:r>
              <a:t>4. AI NOVELTY &amp; SEPARATION</a:t>
            </a:r>
          </a:p>
          <a:p>
            <a:pPr>
              <a:defRPr sz="800">
                <a:solidFill>
                  <a:srgbClr val="0F172A"/>
                </a:solidFill>
                <a:latin typeface="Segoe UI"/>
              </a:defRPr>
            </a:pPr>
            <a:r>
              <a:t>• Liu, F. T., Ting, K. M., &amp; Zhou, Z.-H. (2008). "Isolation Forest." IEEE International Conference on Data Mining (ICDM), pp. 413-422.</a:t>
            </a:r>
            <a:br/>
            <a:r>
              <a:t>• MineGuard Novelty: Causal 16-feature kinematic extraction with baseline calibration decoupling thermal drift from strata deformation.</a:t>
            </a:r>
          </a:p>
        </p:txBody>
      </p:sp>
      <p:sp>
        <p:nvSpPr>
          <p:cNvPr id="8" name="Rounded Rectangle 7"/>
          <p:cNvSpPr/>
          <p:nvPr/>
        </p:nvSpPr>
        <p:spPr>
          <a:xfrm>
            <a:off x="548640" y="3383280"/>
            <a:ext cx="11094415" cy="3200400"/>
          </a:xfrm>
          <a:prstGeom prst="roundRect">
            <a:avLst/>
          </a:prstGeom>
          <a:solidFill>
            <a:srgbClr val="0F17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73152"/>
          <a:lstStyle/>
          <a:p>
            <a:pPr algn="ctr">
              <a:defRPr sz="1050" b="1">
                <a:solidFill>
                  <a:srgbClr val="DCFCE7"/>
                </a:solidFill>
                <a:latin typeface="Segoe UI"/>
              </a:defRPr>
            </a:pPr>
            <a:r>
              <a:t>VERIFIED WORKING PROTOTYPE — INDUSTRIAL SCADA DASHBOARD &amp; MESH TOPOLOGY</a:t>
            </a:r>
          </a:p>
        </p:txBody>
      </p:sp>
      <p:pic>
        <p:nvPicPr>
          <p:cNvPr id="9" name="Picture 8" descr="scada_dashboard_composite.png"/>
          <p:cNvPicPr>
            <a:picLocks noChangeAspect="1"/>
          </p:cNvPicPr>
          <p:nvPr/>
        </p:nvPicPr>
        <p:blipFill>
          <a:blip r:embed="rId2"/>
          <a:stretch>
            <a:fillRect/>
          </a:stretch>
        </p:blipFill>
        <p:spPr>
          <a:xfrm>
            <a:off x="731520" y="3703320"/>
            <a:ext cx="10728655" cy="2743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